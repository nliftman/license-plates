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 Tight Medium"/>
      <p:regular r:id="rId19"/>
      <p:bold r:id="rId20"/>
      <p:italic r:id="rId21"/>
      <p:boldItalic r:id="rId22"/>
    </p:embeddedFont>
    <p:embeddedFont>
      <p:font typeface="Inter Tight"/>
      <p:regular r:id="rId23"/>
      <p:bold r:id="rId24"/>
      <p:italic r:id="rId25"/>
      <p:boldItalic r:id="rId26"/>
    </p:embeddedFont>
    <p:embeddedFont>
      <p:font typeface="Inter Tight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Medium-bold.fntdata"/><Relationship Id="rId22" Type="http://schemas.openxmlformats.org/officeDocument/2006/relationships/font" Target="fonts/InterTightMedium-boldItalic.fntdata"/><Relationship Id="rId21" Type="http://schemas.openxmlformats.org/officeDocument/2006/relationships/font" Target="fonts/InterTightMedium-italic.fntdata"/><Relationship Id="rId24" Type="http://schemas.openxmlformats.org/officeDocument/2006/relationships/font" Target="fonts/InterTight-bold.fntdata"/><Relationship Id="rId23" Type="http://schemas.openxmlformats.org/officeDocument/2006/relationships/font" Target="fonts/InterT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Tight-boldItalic.fntdata"/><Relationship Id="rId25" Type="http://schemas.openxmlformats.org/officeDocument/2006/relationships/font" Target="fonts/InterTight-italic.fntdata"/><Relationship Id="rId28" Type="http://schemas.openxmlformats.org/officeDocument/2006/relationships/font" Target="fonts/InterTightSemiBold-bold.fntdata"/><Relationship Id="rId27" Type="http://schemas.openxmlformats.org/officeDocument/2006/relationships/font" Target="fonts/InterTight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Tight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Tigh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cd115350b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cd115350b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Nyooom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cd115350b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ccd115350b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cd115350b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cd115350b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Nyoom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cd115350b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cd115350b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yoom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data was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was it obtained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0493a88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0493a88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users will interact with your system in a way that addresses the problem area.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0493a889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0493a889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users will interact with your system in a way that addresses the problem area.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0493a889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0493a889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users will interact with your system in a way that addresses the problem area.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cd115350b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cd115350b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this slide to something better: Couple of bullet points or something MAYBE? NAOMI SAYS IT’S OKAY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0493a889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0493a889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this slide to something better: Couple of bullet points or something MAYBE? NAOMI SAYS IT’S OKAY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Scoreing engine: number of tweet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cd115350b_0_1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cd115350b_0_1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be software engineering lessons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cd115350b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ccd115350b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screen recording as a back up for </a:t>
            </a:r>
            <a:r>
              <a:rPr lang="en"/>
              <a:t>the 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cd115350b_0_1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cd115350b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57" name="Google Shape;57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" name="Google Shape;110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14" name="Google Shape;114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" name="Google Shape;129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9" name="Google Shape;139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" name="Google Shape;167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5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85" name="Google Shape;185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" name="Google Shape;186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7" name="Google Shape;187;p35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6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8" name="Google Shape;208;p37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37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5" name="Google Shape;215;p3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19" name="Google Shape;219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20" name="Google Shape;220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21" name="Google Shape;221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22" name="Google Shape;222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8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9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9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9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4" name="Google Shape;234;p39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5" name="Google Shape;235;p39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9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1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51" name="Google Shape;251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" name="Google Shape;253;p41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9" name="Google Shape;259;p4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2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62" name="Google Shape;262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42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3" name="Google Shape;273;p43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4" name="Google Shape;274;p43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5" name="Google Shape;275;p43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0" name="Google Shape;280;p43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44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83" name="Google Shape;283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84" name="Google Shape;284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5" name="Google Shape;285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86" name="Google Shape;286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4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1" name="Google Shape;291;p4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97" name="Google Shape;297;p4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04" name="Google Shape;304;p4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8" name="Google Shape;308;p47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9" name="Google Shape;309;p47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47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3" name="Google Shape;313;p47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4" name="Google Shape;314;p47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4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319" name="Google Shape;319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20" name="Google Shape;320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1" name="Google Shape;321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22" name="Google Shape;322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8" name="Google Shape;328;p4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49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331" name="Google Shape;331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2" name="Google Shape;332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3" name="Google Shape;333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8" name="Google Shape;338;p49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45" name="Google Shape;345;p50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46" name="Google Shape;346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47" name="Google Shape;347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8" name="Google Shape;348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49" name="Google Shape;349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0" name="Google Shape;350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1" name="Google Shape;351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52" name="Google Shape;352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3" name="Google Shape;353;p50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5" name="Google Shape;355;p50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1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9" name="Google Shape;359;p51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nliftman-license-plates-license-plateswebsite-kjghno.streamlit.app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ctrTitle"/>
          </p:nvPr>
        </p:nvSpPr>
        <p:spPr>
          <a:xfrm>
            <a:off x="1826325" y="1559575"/>
            <a:ext cx="54948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>
                <a:solidFill>
                  <a:srgbClr val="073763"/>
                </a:solidFill>
              </a:rPr>
              <a:t>License Plates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365" name="Google Shape;365;p52"/>
          <p:cNvSpPr txBox="1"/>
          <p:nvPr>
            <p:ph idx="1" type="subTitle"/>
          </p:nvPr>
        </p:nvSpPr>
        <p:spPr>
          <a:xfrm>
            <a:off x="1826325" y="3252475"/>
            <a:ext cx="54948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Naomi Liftman, Oviya Muralidharan, and Eva Reutercrona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333925" y="544250"/>
            <a:ext cx="3039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1" name="Google Shape;371;p53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372" name="Google Shape;372;p53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Data Used</a:t>
            </a:r>
            <a:endParaRPr/>
          </a:p>
        </p:txBody>
      </p:sp>
      <p:sp>
        <p:nvSpPr>
          <p:cNvPr id="373" name="Google Shape;373;p53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374" name="Google Shape;374;p53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375" name="Google Shape;375;p53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76" name="Google Shape;376;p53"/>
          <p:cNvSpPr txBox="1"/>
          <p:nvPr/>
        </p:nvSpPr>
        <p:spPr>
          <a:xfrm>
            <a:off x="365450" y="2348550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3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77" name="Google Shape;377;p53"/>
          <p:cNvSpPr txBox="1"/>
          <p:nvPr/>
        </p:nvSpPr>
        <p:spPr>
          <a:xfrm>
            <a:off x="365450" y="2802868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4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78" name="Google Shape;378;p53"/>
          <p:cNvSpPr txBox="1"/>
          <p:nvPr/>
        </p:nvSpPr>
        <p:spPr>
          <a:xfrm>
            <a:off x="365450" y="3257186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5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79" name="Google Shape;379;p53"/>
          <p:cNvSpPr txBox="1"/>
          <p:nvPr/>
        </p:nvSpPr>
        <p:spPr>
          <a:xfrm>
            <a:off x="365450" y="3711504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6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0" name="Google Shape;380;p53"/>
          <p:cNvSpPr txBox="1"/>
          <p:nvPr/>
        </p:nvSpPr>
        <p:spPr>
          <a:xfrm>
            <a:off x="365450" y="4165821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7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1" name="Google Shape;381;p53"/>
          <p:cNvSpPr/>
          <p:nvPr/>
        </p:nvSpPr>
        <p:spPr>
          <a:xfrm rot="5400000">
            <a:off x="3372600" y="1033150"/>
            <a:ext cx="427500" cy="4275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82" name="Google Shape;382;p53"/>
          <p:cNvSpPr txBox="1"/>
          <p:nvPr>
            <p:ph idx="5" type="subTitle"/>
          </p:nvPr>
        </p:nvSpPr>
        <p:spPr>
          <a:xfrm>
            <a:off x="4887876" y="23353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383" name="Google Shape;383;p53"/>
          <p:cNvSpPr txBox="1"/>
          <p:nvPr/>
        </p:nvSpPr>
        <p:spPr>
          <a:xfrm>
            <a:off x="4104200" y="2335321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8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4" name="Google Shape;384;p53"/>
          <p:cNvSpPr txBox="1"/>
          <p:nvPr>
            <p:ph idx="1" type="subTitle"/>
          </p:nvPr>
        </p:nvSpPr>
        <p:spPr>
          <a:xfrm>
            <a:off x="4887876" y="27896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85" name="Google Shape;385;p53"/>
          <p:cNvSpPr txBox="1"/>
          <p:nvPr/>
        </p:nvSpPr>
        <p:spPr>
          <a:xfrm>
            <a:off x="4104200" y="2789650"/>
            <a:ext cx="47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73763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9</a:t>
            </a:r>
            <a:endParaRPr sz="1700">
              <a:solidFill>
                <a:srgbClr val="073763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54"/>
          <p:cNvSpPr txBox="1"/>
          <p:nvPr>
            <p:ph type="title"/>
          </p:nvPr>
        </p:nvSpPr>
        <p:spPr>
          <a:xfrm>
            <a:off x="890700" y="556358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</a:rPr>
              <a:t>Background</a:t>
            </a:r>
            <a:endParaRPr sz="3000">
              <a:solidFill>
                <a:srgbClr val="073763"/>
              </a:solidFill>
            </a:endParaRPr>
          </a:p>
        </p:txBody>
      </p:sp>
      <p:sp>
        <p:nvSpPr>
          <p:cNvPr id="392" name="Google Shape;392;p54"/>
          <p:cNvSpPr txBox="1"/>
          <p:nvPr>
            <p:ph idx="1" type="body"/>
          </p:nvPr>
        </p:nvSpPr>
        <p:spPr>
          <a:xfrm>
            <a:off x="890700" y="1694400"/>
            <a:ext cx="7362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Goal for project outcome: A tool that the state of California could use to identify if plates should be rejected or accepted.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Current State: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All license plate approvals must be done manually.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Drivers only way of checking is with restrictions on website or submission.  </a:t>
            </a:r>
            <a:endParaRPr sz="2000"/>
          </a:p>
        </p:txBody>
      </p:sp>
      <p:sp>
        <p:nvSpPr>
          <p:cNvPr id="393" name="Google Shape;393;p54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394" name="Google Shape;394;p54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5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55"/>
          <p:cNvSpPr txBox="1"/>
          <p:nvPr>
            <p:ph type="title"/>
          </p:nvPr>
        </p:nvSpPr>
        <p:spPr>
          <a:xfrm>
            <a:off x="890700" y="498058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</a:rPr>
              <a:t>Data Used</a:t>
            </a:r>
            <a:endParaRPr sz="3000">
              <a:solidFill>
                <a:srgbClr val="073763"/>
              </a:solidFill>
            </a:endParaRPr>
          </a:p>
        </p:txBody>
      </p:sp>
      <p:sp>
        <p:nvSpPr>
          <p:cNvPr id="401" name="Google Shape;401;p55"/>
          <p:cNvSpPr txBox="1"/>
          <p:nvPr>
            <p:ph idx="1" type="body"/>
          </p:nvPr>
        </p:nvSpPr>
        <p:spPr>
          <a:xfrm>
            <a:off x="890700" y="1694400"/>
            <a:ext cx="7362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California License Plate Master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Twitter English Profanity Set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Carnegie Mellon: Bad Word txt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Wikipedia: Ethnic Slurs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GitHub: List of English Naughty Words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GitHub: English Profanity CSV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Chew Inclusive Terminology Glossary: Contemporary Slurs</a:t>
            </a:r>
            <a:endParaRPr sz="2000"/>
          </a:p>
        </p:txBody>
      </p:sp>
      <p:sp>
        <p:nvSpPr>
          <p:cNvPr id="402" name="Google Shape;402;p5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03" name="Google Shape;403;p5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6"/>
          <p:cNvSpPr txBox="1"/>
          <p:nvPr>
            <p:ph type="title"/>
          </p:nvPr>
        </p:nvSpPr>
        <p:spPr>
          <a:xfrm>
            <a:off x="890700" y="498050"/>
            <a:ext cx="70890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</a:rPr>
              <a:t>Use Case 1: Single Valid Plate Review</a:t>
            </a:r>
            <a:endParaRPr sz="3000">
              <a:solidFill>
                <a:srgbClr val="073763"/>
              </a:solidFill>
            </a:endParaRPr>
          </a:p>
        </p:txBody>
      </p:sp>
      <p:sp>
        <p:nvSpPr>
          <p:cNvPr id="410" name="Google Shape;410;p56"/>
          <p:cNvSpPr txBox="1"/>
          <p:nvPr>
            <p:ph idx="1" type="body"/>
          </p:nvPr>
        </p:nvSpPr>
        <p:spPr>
          <a:xfrm>
            <a:off x="890700" y="1694400"/>
            <a:ext cx="6791100" cy="32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Objective:</a:t>
            </a:r>
            <a:r>
              <a:rPr lang="en" sz="2000"/>
              <a:t> Determine whether a proposed plate contains restricted material.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User:</a:t>
            </a:r>
            <a:r>
              <a:rPr lang="en" sz="2000"/>
              <a:t> Enters a license plate into the interface.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System: </a:t>
            </a:r>
            <a:r>
              <a:rPr lang="en" sz="2000"/>
              <a:t>Validates the plate format and checks for offensive or restricted content.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Outcome:</a:t>
            </a:r>
            <a:r>
              <a:rPr lang="en" sz="2000"/>
              <a:t> Displays that the plate does not contain restricted language.</a:t>
            </a:r>
            <a:endParaRPr sz="2000"/>
          </a:p>
        </p:txBody>
      </p:sp>
      <p:sp>
        <p:nvSpPr>
          <p:cNvPr id="411" name="Google Shape;411;p5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12" name="Google Shape;412;p5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7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7"/>
          <p:cNvSpPr txBox="1"/>
          <p:nvPr>
            <p:ph type="title"/>
          </p:nvPr>
        </p:nvSpPr>
        <p:spPr>
          <a:xfrm>
            <a:off x="890700" y="498050"/>
            <a:ext cx="77694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</a:rPr>
              <a:t>Use Case 2: Single Rejected Plate Review</a:t>
            </a:r>
            <a:endParaRPr sz="3000">
              <a:solidFill>
                <a:srgbClr val="073763"/>
              </a:solidFill>
            </a:endParaRPr>
          </a:p>
        </p:txBody>
      </p:sp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890700" y="1694400"/>
            <a:ext cx="6791100" cy="32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Objective:</a:t>
            </a:r>
            <a:r>
              <a:rPr lang="en" sz="2000"/>
              <a:t> Explain why a plate is not allowed.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User:</a:t>
            </a:r>
            <a:r>
              <a:rPr lang="en" sz="2000"/>
              <a:t> Enters a license plate into the interface.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System:</a:t>
            </a:r>
            <a:r>
              <a:rPr lang="en" sz="2000"/>
              <a:t> Validates the plate format and checks for offensive or restricted content.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Outcome:</a:t>
            </a:r>
            <a:r>
              <a:rPr lang="en" sz="2000"/>
              <a:t> Displays that the plate contains restricted language.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User:</a:t>
            </a:r>
            <a:r>
              <a:rPr lang="en" sz="2000"/>
              <a:t> Clicks the “More Information” button.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System: </a:t>
            </a:r>
            <a:r>
              <a:rPr lang="en" sz="2000"/>
              <a:t>Displays the reason for rejection, such as invalid format, restricted letter combination, or similarity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20" name="Google Shape;420;p57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21" name="Google Shape;421;p57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8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58"/>
          <p:cNvSpPr txBox="1"/>
          <p:nvPr>
            <p:ph type="title"/>
          </p:nvPr>
        </p:nvSpPr>
        <p:spPr>
          <a:xfrm>
            <a:off x="890700" y="498050"/>
            <a:ext cx="70404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</a:rPr>
              <a:t>Use Case 3: Batch DMV Review</a:t>
            </a:r>
            <a:endParaRPr sz="3000">
              <a:solidFill>
                <a:srgbClr val="073763"/>
              </a:solidFill>
            </a:endParaRPr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890700" y="1694400"/>
            <a:ext cx="6791100" cy="32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Objective:</a:t>
            </a:r>
            <a:r>
              <a:rPr lang="en" sz="1900"/>
              <a:t> Screen many license plates at once.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User:</a:t>
            </a:r>
            <a:r>
              <a:rPr lang="en" sz="1900"/>
              <a:t> Uploads a CSV containing license plates.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System:</a:t>
            </a:r>
            <a:r>
              <a:rPr lang="en" sz="1900"/>
              <a:t> Processes each plate, validates format, and checks for offensive or restricted content.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Outcome:</a:t>
            </a:r>
            <a:r>
              <a:rPr lang="en" sz="1900"/>
              <a:t> Returns a CSV containing the original data plus three additional columns: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acceptance: accepted or denied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rationale: blank for accepted plates, “invalid” for formatting issues, or an explanation for flagged content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notes: additional information for flagged content</a:t>
            </a:r>
            <a:endParaRPr sz="1900"/>
          </a:p>
        </p:txBody>
      </p:sp>
      <p:sp>
        <p:nvSpPr>
          <p:cNvPr id="429" name="Google Shape;429;p5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30" name="Google Shape;430;p5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9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59"/>
          <p:cNvSpPr txBox="1"/>
          <p:nvPr>
            <p:ph type="title"/>
          </p:nvPr>
        </p:nvSpPr>
        <p:spPr>
          <a:xfrm>
            <a:off x="1137250" y="498053"/>
            <a:ext cx="3662100" cy="62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</a:rPr>
              <a:t>Design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437" name="Google Shape;437;p59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38" name="Google Shape;438;p59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  <p:pic>
        <p:nvPicPr>
          <p:cNvPr id="439" name="Google Shape;439;p59" title="Screenshot 2026-02-10 at 8.33.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724" y="1253425"/>
            <a:ext cx="6732573" cy="37699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0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60"/>
          <p:cNvSpPr txBox="1"/>
          <p:nvPr>
            <p:ph type="title"/>
          </p:nvPr>
        </p:nvSpPr>
        <p:spPr>
          <a:xfrm>
            <a:off x="1137250" y="498053"/>
            <a:ext cx="3662100" cy="62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</a:rPr>
              <a:t>Design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446" name="Google Shape;446;p6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47" name="Google Shape;447;p6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  <p:sp>
        <p:nvSpPr>
          <p:cNvPr id="448" name="Google Shape;448;p60"/>
          <p:cNvSpPr/>
          <p:nvPr/>
        </p:nvSpPr>
        <p:spPr>
          <a:xfrm>
            <a:off x="716300" y="1318275"/>
            <a:ext cx="1874400" cy="830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User Input (plate/csv)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3238550" y="1318275"/>
            <a:ext cx="1775400" cy="830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Plate preprocessing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(normalization + </a:t>
            </a: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substitutions</a:t>
            </a: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)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0" name="Google Shape;450;p60"/>
          <p:cNvSpPr/>
          <p:nvPr/>
        </p:nvSpPr>
        <p:spPr>
          <a:xfrm>
            <a:off x="5516950" y="1318275"/>
            <a:ext cx="2240100" cy="96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Offensive word detection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●"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Exact substring matching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●"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Fuzzy similarity matching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1" name="Google Shape;451;p60"/>
          <p:cNvSpPr/>
          <p:nvPr/>
        </p:nvSpPr>
        <p:spPr>
          <a:xfrm>
            <a:off x="4799350" y="3307100"/>
            <a:ext cx="2240100" cy="96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Scoring engine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●"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Number of tweets word appears in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●"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Hate vs offensive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2" name="Google Shape;452;p60"/>
          <p:cNvSpPr/>
          <p:nvPr/>
        </p:nvSpPr>
        <p:spPr>
          <a:xfrm>
            <a:off x="1935650" y="2617475"/>
            <a:ext cx="2240100" cy="96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Single Plate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●"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shows restricted words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●"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s</a:t>
            </a: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hows explanation in Streamlit UI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3" name="Google Shape;453;p60"/>
          <p:cNvSpPr/>
          <p:nvPr/>
        </p:nvSpPr>
        <p:spPr>
          <a:xfrm>
            <a:off x="1935650" y="3817700"/>
            <a:ext cx="2240100" cy="1135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CSV Input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Inter Tight"/>
              <a:buChar char="●"/>
            </a:pPr>
            <a:r>
              <a:rPr lang="en" sz="1000">
                <a:latin typeface="Inter Tight"/>
                <a:ea typeface="Inter Tight"/>
                <a:cs typeface="Inter Tight"/>
                <a:sym typeface="Inter Tight"/>
              </a:rPr>
              <a:t>applies decision rules</a:t>
            </a:r>
            <a:endParaRPr sz="10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Inter Tight"/>
              <a:buChar char="●"/>
            </a:pPr>
            <a:r>
              <a:rPr lang="en" sz="1000">
                <a:latin typeface="Inter Tight"/>
                <a:ea typeface="Inter Tight"/>
                <a:cs typeface="Inter Tight"/>
                <a:sym typeface="Inter Tight"/>
              </a:rPr>
              <a:t>adds columns: </a:t>
            </a:r>
            <a:endParaRPr sz="1000">
              <a:latin typeface="Inter Tight"/>
              <a:ea typeface="Inter Tight"/>
              <a:cs typeface="Inter Tight"/>
              <a:sym typeface="Inter Tight"/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SzPts val="900"/>
              <a:buFont typeface="Inter Tight"/>
              <a:buChar char="○"/>
            </a:pPr>
            <a:r>
              <a:rPr lang="en" sz="900">
                <a:latin typeface="Inter Tight"/>
                <a:ea typeface="Inter Tight"/>
                <a:cs typeface="Inter Tight"/>
                <a:sym typeface="Inter Tight"/>
              </a:rPr>
              <a:t>approval</a:t>
            </a:r>
            <a:endParaRPr sz="900">
              <a:latin typeface="Inter Tight"/>
              <a:ea typeface="Inter Tight"/>
              <a:cs typeface="Inter Tight"/>
              <a:sym typeface="Inter Tight"/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SzPts val="900"/>
              <a:buFont typeface="Inter Tight"/>
              <a:buChar char="○"/>
            </a:pPr>
            <a:r>
              <a:rPr lang="en" sz="900">
                <a:latin typeface="Inter Tight"/>
                <a:ea typeface="Inter Tight"/>
                <a:cs typeface="Inter Tight"/>
                <a:sym typeface="Inter Tight"/>
              </a:rPr>
              <a:t>rationale</a:t>
            </a:r>
            <a:endParaRPr sz="900">
              <a:latin typeface="Inter Tight"/>
              <a:ea typeface="Inter Tight"/>
              <a:cs typeface="Inter Tight"/>
              <a:sym typeface="Inter T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Inter Tight"/>
              <a:buChar char="●"/>
            </a:pPr>
            <a:r>
              <a:rPr lang="en" sz="1000">
                <a:latin typeface="Inter Tight"/>
                <a:ea typeface="Inter Tight"/>
                <a:cs typeface="Inter Tight"/>
                <a:sym typeface="Inter Tight"/>
              </a:rPr>
              <a:t>r</a:t>
            </a:r>
            <a:r>
              <a:rPr lang="en" sz="1000">
                <a:latin typeface="Inter Tight"/>
                <a:ea typeface="Inter Tight"/>
                <a:cs typeface="Inter Tight"/>
                <a:sym typeface="Inter Tight"/>
              </a:rPr>
              <a:t>eturns processed CSV</a:t>
            </a:r>
            <a:endParaRPr sz="10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4" name="Google Shape;454;p60"/>
          <p:cNvSpPr/>
          <p:nvPr/>
        </p:nvSpPr>
        <p:spPr>
          <a:xfrm>
            <a:off x="7406675" y="2849900"/>
            <a:ext cx="1657200" cy="967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"/>
                <a:ea typeface="Inter Tight"/>
                <a:cs typeface="Inter Tight"/>
                <a:sym typeface="Inter Tight"/>
              </a:rPr>
              <a:t>Offensive Language Dataset</a:t>
            </a:r>
            <a:endParaRPr sz="13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 Tight"/>
                <a:ea typeface="Inter Tight"/>
                <a:cs typeface="Inter Tight"/>
                <a:sym typeface="Inter Tight"/>
              </a:rPr>
              <a:t>(word frequency + hate score)</a:t>
            </a:r>
            <a:endParaRPr sz="11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5" name="Google Shape;455;p60"/>
          <p:cNvSpPr/>
          <p:nvPr/>
        </p:nvSpPr>
        <p:spPr>
          <a:xfrm>
            <a:off x="2598425" y="1752600"/>
            <a:ext cx="640200" cy="7500"/>
          </a:xfrm>
          <a:prstGeom prst="rightArrow">
            <a:avLst>
              <a:gd fmla="val 50000" name="adj1"/>
              <a:gd fmla="val 335433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456" name="Google Shape;456;p60"/>
          <p:cNvCxnSpPr>
            <a:stCxn id="455" idx="0"/>
            <a:endCxn id="455" idx="3"/>
          </p:cNvCxnSpPr>
          <p:nvPr/>
        </p:nvCxnSpPr>
        <p:spPr>
          <a:xfrm>
            <a:off x="2987050" y="1752600"/>
            <a:ext cx="2517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60"/>
          <p:cNvCxnSpPr>
            <a:stCxn id="449" idx="3"/>
            <a:endCxn id="450" idx="1"/>
          </p:cNvCxnSpPr>
          <p:nvPr/>
        </p:nvCxnSpPr>
        <p:spPr>
          <a:xfrm>
            <a:off x="5013950" y="1733625"/>
            <a:ext cx="503100" cy="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60"/>
          <p:cNvCxnSpPr>
            <a:stCxn id="450" idx="2"/>
            <a:endCxn id="451" idx="0"/>
          </p:cNvCxnSpPr>
          <p:nvPr/>
        </p:nvCxnSpPr>
        <p:spPr>
          <a:xfrm flipH="1">
            <a:off x="5919400" y="2286075"/>
            <a:ext cx="717600" cy="10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60"/>
          <p:cNvCxnSpPr>
            <a:stCxn id="451" idx="1"/>
            <a:endCxn id="452" idx="3"/>
          </p:cNvCxnSpPr>
          <p:nvPr/>
        </p:nvCxnSpPr>
        <p:spPr>
          <a:xfrm rot="10800000">
            <a:off x="4175650" y="3101300"/>
            <a:ext cx="623700" cy="6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60"/>
          <p:cNvCxnSpPr>
            <a:stCxn id="451" idx="1"/>
            <a:endCxn id="453" idx="3"/>
          </p:cNvCxnSpPr>
          <p:nvPr/>
        </p:nvCxnSpPr>
        <p:spPr>
          <a:xfrm flipH="1">
            <a:off x="4175650" y="3791000"/>
            <a:ext cx="623700" cy="5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60"/>
          <p:cNvCxnSpPr>
            <a:endCxn id="450" idx="3"/>
          </p:cNvCxnSpPr>
          <p:nvPr/>
        </p:nvCxnSpPr>
        <p:spPr>
          <a:xfrm flipH="1" rot="5400000">
            <a:off x="7469500" y="2089725"/>
            <a:ext cx="1055400" cy="480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60"/>
          <p:cNvCxnSpPr>
            <a:endCxn id="451" idx="2"/>
          </p:cNvCxnSpPr>
          <p:nvPr/>
        </p:nvCxnSpPr>
        <p:spPr>
          <a:xfrm flipH="1">
            <a:off x="5919400" y="3832700"/>
            <a:ext cx="2340600" cy="442200"/>
          </a:xfrm>
          <a:prstGeom prst="bentConnector4">
            <a:avLst>
              <a:gd fmla="val -3" name="adj1"/>
              <a:gd fmla="val 15385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61"/>
          <p:cNvSpPr txBox="1"/>
          <p:nvPr>
            <p:ph type="title"/>
          </p:nvPr>
        </p:nvSpPr>
        <p:spPr>
          <a:xfrm>
            <a:off x="483175" y="450025"/>
            <a:ext cx="81846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</a:rPr>
              <a:t>Project Takeaways &amp; Direction</a:t>
            </a:r>
            <a:endParaRPr sz="3000">
              <a:solidFill>
                <a:srgbClr val="073763"/>
              </a:solidFill>
            </a:endParaRPr>
          </a:p>
        </p:txBody>
      </p:sp>
      <p:sp>
        <p:nvSpPr>
          <p:cNvPr id="469" name="Google Shape;469;p61"/>
          <p:cNvSpPr txBox="1"/>
          <p:nvPr>
            <p:ph idx="1" type="body"/>
          </p:nvPr>
        </p:nvSpPr>
        <p:spPr>
          <a:xfrm>
            <a:off x="483150" y="2237800"/>
            <a:ext cx="3497100" cy="26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Many leetspeak encoders but few leetspeak decoders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Twitter is not the all encompassing resource of ethnic slurs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The difficulties of testing streamlit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Pro’s and Con’s of GitHub Multiple Reviewers</a:t>
            </a:r>
            <a:endParaRPr/>
          </a:p>
        </p:txBody>
      </p:sp>
      <p:sp>
        <p:nvSpPr>
          <p:cNvPr id="470" name="Google Shape;470;p61"/>
          <p:cNvSpPr txBox="1"/>
          <p:nvPr>
            <p:ph idx="2" type="body"/>
          </p:nvPr>
        </p:nvSpPr>
        <p:spPr>
          <a:xfrm>
            <a:off x="5048000" y="2237788"/>
            <a:ext cx="36198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Expand the offensive language dataset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Improve word detection algorithms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Improve phrase detection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Future Work</a:t>
            </a:r>
            <a:endParaRPr b="1" sz="2300"/>
          </a:p>
        </p:txBody>
      </p:sp>
      <p:sp>
        <p:nvSpPr>
          <p:cNvPr id="472" name="Google Shape;472;p6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Lessons Learnt</a:t>
            </a:r>
            <a:endParaRPr b="1" sz="2300"/>
          </a:p>
        </p:txBody>
      </p:sp>
      <p:sp>
        <p:nvSpPr>
          <p:cNvPr id="473" name="Google Shape;473;p61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Data 515</a:t>
            </a:r>
            <a:endParaRPr b="1" sz="700"/>
          </a:p>
        </p:txBody>
      </p:sp>
      <p:sp>
        <p:nvSpPr>
          <p:cNvPr id="474" name="Google Shape;474;p61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License Plates</a:t>
            </a:r>
            <a:endParaRPr b="1" sz="700"/>
          </a:p>
        </p:txBody>
      </p:sp>
      <p:sp>
        <p:nvSpPr>
          <p:cNvPr id="475" name="Google Shape;475;p6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515</a:t>
            </a:r>
            <a:endParaRPr/>
          </a:p>
        </p:txBody>
      </p:sp>
      <p:sp>
        <p:nvSpPr>
          <p:cNvPr id="481" name="Google Shape;481;p62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  <p:sp>
        <p:nvSpPr>
          <p:cNvPr id="482" name="Google Shape;482;p6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62"/>
          <p:cNvSpPr txBox="1"/>
          <p:nvPr>
            <p:ph type="title"/>
          </p:nvPr>
        </p:nvSpPr>
        <p:spPr>
          <a:xfrm>
            <a:off x="2479675" y="2285400"/>
            <a:ext cx="41847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Demo!</a:t>
            </a:r>
            <a:endParaRPr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3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489" name="Google Shape;489;p63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License Plates</a:t>
            </a:r>
            <a:endParaRPr/>
          </a:p>
        </p:txBody>
      </p:sp>
      <p:sp>
        <p:nvSpPr>
          <p:cNvPr id="490" name="Google Shape;490;p6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63"/>
          <p:cNvSpPr txBox="1"/>
          <p:nvPr>
            <p:ph type="title"/>
          </p:nvPr>
        </p:nvSpPr>
        <p:spPr>
          <a:xfrm>
            <a:off x="2479675" y="2285400"/>
            <a:ext cx="41847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</a:rPr>
              <a:t>Questions?</a:t>
            </a:r>
            <a:endParaRPr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